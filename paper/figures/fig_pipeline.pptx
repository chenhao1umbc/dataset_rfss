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6547104" cy="2286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" y="36576"/>
            <a:ext cx="3931920" cy="201168"/>
          </a:xfrm>
          <a:prstGeom prst="roundRect">
            <a:avLst>
              <a:gd name="adj" fmla="val 35000"/>
            </a:avLst>
          </a:prstGeom>
          <a:solidFill>
            <a:srgbClr val="1F6E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Times New Roman"/>
              </a:rPr>
              <a:t>(a) Per-source chain, applied to each of the K sources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069080" y="36576"/>
            <a:ext cx="1280160" cy="201168"/>
          </a:xfrm>
          <a:prstGeom prst="roundRect">
            <a:avLst>
              <a:gd name="adj" fmla="val 35000"/>
            </a:avLst>
          </a:prstGeom>
          <a:solidFill>
            <a:srgbClr val="1F6E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Times New Roman"/>
              </a:rPr>
              <a:t>(b) Mixing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58968" y="36576"/>
            <a:ext cx="1042415" cy="201168"/>
          </a:xfrm>
          <a:prstGeom prst="roundRect">
            <a:avLst>
              <a:gd name="adj" fmla="val 35000"/>
            </a:avLst>
          </a:prstGeom>
          <a:solidFill>
            <a:srgbClr val="1F6E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Times New Roman"/>
              </a:rPr>
              <a:t>(c) HDF5 output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" y="256032"/>
            <a:ext cx="3931920" cy="27432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>
              <a:lnSpc>
                <a:spcPct val="95000"/>
              </a:lnSpc>
            </a:pPr>
            <a:r>
              <a:rPr sz="700" b="0" i="1">
                <a:solidFill>
                  <a:srgbClr val="555555"/>
                </a:solidFill>
                <a:latin typeface="Times New Roman"/>
              </a:rPr>
              <a:t>K = 2, 3 or 4 sources per sample, drawn with replacement; each source has its own chain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" y="731519"/>
            <a:ext cx="530352" cy="914400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46304" y="694944"/>
            <a:ext cx="530352" cy="914400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9728" y="658368"/>
            <a:ext cx="530352" cy="914400"/>
          </a:xfrm>
          <a:prstGeom prst="roundRect">
            <a:avLst>
              <a:gd name="adj" fmla="val 8000"/>
            </a:avLst>
          </a:prstGeom>
          <a:solidFill>
            <a:srgbClr val="EEEEEE"/>
          </a:solidFill>
          <a:ln w="9525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>
              <a:lnSpc>
                <a:spcPct val="95000"/>
              </a:lnSpc>
            </a:pPr>
            <a:r>
              <a:rPr sz="700" b="1" i="0">
                <a:solidFill>
                  <a:srgbClr val="1A1A1A"/>
                </a:solidFill>
                <a:latin typeface="Times New Roman"/>
              </a:rPr>
              <a:t>Random</a:t>
            </a:r>
          </a:p>
          <a:p>
            <a:pPr algn="ctr">
              <a:lnSpc>
                <a:spcPct val="95000"/>
              </a:lnSpc>
            </a:pPr>
            <a:r>
              <a:rPr sz="700" b="1" i="0">
                <a:solidFill>
                  <a:srgbClr val="1A1A1A"/>
                </a:solidFill>
                <a:latin typeface="Times New Roman"/>
              </a:rPr>
              <a:t>symbols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9536" y="731519"/>
            <a:ext cx="896112" cy="914400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6350">
            <a:solidFill>
              <a:srgbClr val="8C9C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60" y="694944"/>
            <a:ext cx="896112" cy="914400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6350">
            <a:solidFill>
              <a:srgbClr val="8C9C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86384" y="658368"/>
            <a:ext cx="896112" cy="914400"/>
          </a:xfrm>
          <a:prstGeom prst="roundRect">
            <a:avLst>
              <a:gd name="adj" fmla="val 8000"/>
            </a:avLst>
          </a:prstGeom>
          <a:solidFill>
            <a:srgbClr val="E6ECF8"/>
          </a:solidFill>
          <a:ln w="9525">
            <a:solidFill>
              <a:srgbClr val="8C9C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>
              <a:lnSpc>
                <a:spcPct val="95000"/>
              </a:lnSpc>
            </a:pPr>
            <a:r>
              <a:rPr sz="700" b="1" i="0">
                <a:solidFill>
                  <a:srgbClr val="1A1A1A"/>
                </a:solidFill>
                <a:latin typeface="Times New Roman"/>
              </a:rPr>
              <a:t>Generator</a:t>
            </a:r>
          </a:p>
          <a:p>
            <a:pPr algn="ctr">
              <a:lnSpc>
                <a:spcPct val="95000"/>
              </a:lnSpc>
            </a:pPr>
            <a:r>
              <a:rPr sz="700" b="0" i="0">
                <a:solidFill>
                  <a:srgbClr val="1A1A1A"/>
                </a:solidFill>
                <a:latin typeface="Times New Roman"/>
              </a:rPr>
              <a:t>GSM, UMTS,</a:t>
            </a:r>
          </a:p>
          <a:p>
            <a:pPr algn="ctr">
              <a:lnSpc>
                <a:spcPct val="95000"/>
              </a:lnSpc>
            </a:pPr>
            <a:r>
              <a:rPr sz="700" b="0" i="0">
                <a:solidFill>
                  <a:srgbClr val="1A1A1A"/>
                </a:solidFill>
                <a:latin typeface="Times New Roman"/>
              </a:rPr>
              <a:t>LTE, 5G NR</a:t>
            </a:r>
          </a:p>
          <a:p>
            <a:pPr algn="ctr">
              <a:lnSpc>
                <a:spcPct val="95000"/>
              </a:lnSpc>
            </a:pPr>
            <a:r>
              <a:rPr sz="700" b="0" i="0">
                <a:solidFill>
                  <a:srgbClr val="555555"/>
                </a:solidFill>
                <a:latin typeface="Times New Roman"/>
              </a:rPr>
              <a:t>TS 45.004, 25.213,</a:t>
            </a:r>
          </a:p>
          <a:p>
            <a:pPr algn="ctr">
              <a:lnSpc>
                <a:spcPct val="95000"/>
              </a:lnSpc>
            </a:pPr>
            <a:r>
              <a:rPr sz="700" b="0" i="0">
                <a:solidFill>
                  <a:srgbClr val="555555"/>
                </a:solidFill>
                <a:latin typeface="Times New Roman"/>
              </a:rPr>
              <a:t>36.211, 38.211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901952" y="731519"/>
            <a:ext cx="749808" cy="914400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6350">
            <a:solidFill>
              <a:srgbClr val="7FB4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865376" y="694944"/>
            <a:ext cx="749808" cy="914400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6350">
            <a:solidFill>
              <a:srgbClr val="7FB4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828800" y="658368"/>
            <a:ext cx="749808" cy="914400"/>
          </a:xfrm>
          <a:prstGeom prst="roundRect">
            <a:avLst>
              <a:gd name="adj" fmla="val 8000"/>
            </a:avLst>
          </a:prstGeom>
          <a:solidFill>
            <a:srgbClr val="E2F1F5"/>
          </a:solidFill>
          <a:ln w="9525">
            <a:solidFill>
              <a:srgbClr val="7FB4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>
              <a:lnSpc>
                <a:spcPct val="95000"/>
              </a:lnSpc>
            </a:pPr>
            <a:r>
              <a:rPr sz="700" b="1" i="0">
                <a:solidFill>
                  <a:srgbClr val="1A1A1A"/>
                </a:solidFill>
                <a:latin typeface="Times New Roman"/>
              </a:rPr>
              <a:t>TDL channel</a:t>
            </a:r>
          </a:p>
          <a:p>
            <a:pPr algn="ctr">
              <a:lnSpc>
                <a:spcPct val="95000"/>
              </a:lnSpc>
            </a:pPr>
            <a:r>
              <a:rPr sz="700" b="0" i="0">
                <a:solidFill>
                  <a:srgbClr val="1A1A1A"/>
                </a:solidFill>
                <a:latin typeface="Times New Roman"/>
              </a:rPr>
              <a:t>TDL-A to TDL-E</a:t>
            </a:r>
          </a:p>
          <a:p>
            <a:pPr algn="ctr">
              <a:lnSpc>
                <a:spcPct val="95000"/>
              </a:lnSpc>
            </a:pPr>
            <a:r>
              <a:rPr sz="700" b="0" i="0">
                <a:solidFill>
                  <a:srgbClr val="555555"/>
                </a:solidFill>
                <a:latin typeface="Times New Roman"/>
              </a:rPr>
              <a:t>TR 38.901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98064" y="731519"/>
            <a:ext cx="1188720" cy="914400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6350">
            <a:solidFill>
              <a:srgbClr val="D9A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761488" y="694944"/>
            <a:ext cx="1188720" cy="914400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6350">
            <a:solidFill>
              <a:srgbClr val="D9A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724912" y="658368"/>
            <a:ext cx="1188720" cy="914400"/>
          </a:xfrm>
          <a:prstGeom prst="roundRect">
            <a:avLst>
              <a:gd name="adj" fmla="val 8000"/>
            </a:avLst>
          </a:prstGeom>
          <a:solidFill>
            <a:srgbClr val="FDEFDC"/>
          </a:solidFill>
          <a:ln w="9525">
            <a:solidFill>
              <a:srgbClr val="D9A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>
              <a:lnSpc>
                <a:spcPct val="95000"/>
              </a:lnSpc>
            </a:pPr>
            <a:r>
              <a:rPr sz="700" b="1" i="0">
                <a:solidFill>
                  <a:srgbClr val="1A1A1A"/>
                </a:solidFill>
                <a:latin typeface="Times New Roman"/>
              </a:rPr>
              <a:t>Hardware impairments</a:t>
            </a:r>
          </a:p>
          <a:p>
            <a:pPr algn="ctr">
              <a:lnSpc>
                <a:spcPct val="95000"/>
              </a:lnSpc>
            </a:pPr>
            <a:r>
              <a:rPr sz="700" b="0" i="0">
                <a:solidFill>
                  <a:srgbClr val="1A1A1A"/>
                </a:solidFill>
                <a:latin typeface="Times New Roman"/>
              </a:rPr>
              <a:t>CFO, SFO, I/Q imbalance,</a:t>
            </a:r>
          </a:p>
          <a:p>
            <a:pPr algn="ctr">
              <a:lnSpc>
                <a:spcPct val="95000"/>
              </a:lnSpc>
            </a:pPr>
            <a:r>
              <a:rPr sz="700" b="0" i="0">
                <a:solidFill>
                  <a:srgbClr val="1A1A1A"/>
                </a:solidFill>
                <a:latin typeface="Times New Roman"/>
              </a:rPr>
              <a:t>DC offset, phase noise,</a:t>
            </a:r>
          </a:p>
          <a:p>
            <a:pPr algn="ctr">
              <a:lnSpc>
                <a:spcPct val="95000"/>
              </a:lnSpc>
            </a:pPr>
            <a:r>
              <a:rPr sz="700" b="0" i="0">
                <a:solidFill>
                  <a:srgbClr val="1A1A1A"/>
                </a:solidFill>
                <a:latin typeface="Times New Roman"/>
              </a:rPr>
              <a:t>PA nonlinearity</a:t>
            </a:r>
          </a:p>
          <a:p>
            <a:pPr algn="ctr">
              <a:lnSpc>
                <a:spcPct val="95000"/>
              </a:lnSpc>
            </a:pPr>
            <a:r>
              <a:rPr sz="700" b="0" i="0">
                <a:solidFill>
                  <a:srgbClr val="555555"/>
                </a:solidFill>
                <a:latin typeface="Times New Roman"/>
              </a:rPr>
              <a:t>clean 19.9%, single 29.9%,</a:t>
            </a:r>
          </a:p>
          <a:p>
            <a:pPr algn="ctr">
              <a:lnSpc>
                <a:spcPct val="95000"/>
              </a:lnSpc>
            </a:pPr>
            <a:r>
              <a:rPr sz="700" b="0" i="0">
                <a:solidFill>
                  <a:srgbClr val="555555"/>
                </a:solidFill>
                <a:latin typeface="Times New Roman"/>
              </a:rPr>
              <a:t>all six 50.1%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40080" y="1115568"/>
            <a:ext cx="146304" cy="0"/>
          </a:xfrm>
          <a:prstGeom prst="line">
            <a:avLst/>
          </a:prstGeom>
          <a:ln w="952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682496" y="1115568"/>
            <a:ext cx="146304" cy="0"/>
          </a:xfrm>
          <a:prstGeom prst="line">
            <a:avLst/>
          </a:prstGeom>
          <a:ln w="952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578608" y="1115568"/>
            <a:ext cx="146304" cy="0"/>
          </a:xfrm>
          <a:prstGeom prst="line">
            <a:avLst/>
          </a:prstGeom>
          <a:ln w="952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160520" y="658368"/>
            <a:ext cx="1115568" cy="914400"/>
          </a:xfrm>
          <a:prstGeom prst="roundRect">
            <a:avLst>
              <a:gd name="adj" fmla="val 8000"/>
            </a:avLst>
          </a:prstGeom>
          <a:solidFill>
            <a:srgbClr val="E6F3E3"/>
          </a:solidFill>
          <a:ln w="9525">
            <a:solidFill>
              <a:srgbClr val="6EAE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>
              <a:lnSpc>
                <a:spcPct val="95000"/>
              </a:lnSpc>
            </a:pPr>
            <a:r>
              <a:rPr sz="700" b="1" i="0">
                <a:solidFill>
                  <a:srgbClr val="1A1A1A"/>
                </a:solidFill>
                <a:latin typeface="Times New Roman"/>
              </a:rPr>
              <a:t>SignalMixer</a:t>
            </a:r>
          </a:p>
          <a:p>
            <a:pPr algn="ctr">
              <a:lnSpc>
                <a:spcPct val="95000"/>
              </a:lnSpc>
            </a:pPr>
            <a:r>
              <a:rPr sz="700" b="0" i="0">
                <a:solidFill>
                  <a:srgbClr val="1A1A1A"/>
                </a:solidFill>
                <a:latin typeface="Times New Roman"/>
              </a:rPr>
              <a:t>rate = highest</a:t>
            </a:r>
          </a:p>
          <a:p>
            <a:pPr algn="ctr">
              <a:lnSpc>
                <a:spcPct val="95000"/>
              </a:lnSpc>
            </a:pPr>
            <a:r>
              <a:rPr sz="700" b="0" i="0">
                <a:solidFill>
                  <a:srgbClr val="1A1A1A"/>
                </a:solidFill>
                <a:latin typeface="Times New Roman"/>
              </a:rPr>
              <a:t>source rate</a:t>
            </a:r>
          </a:p>
          <a:p>
            <a:pPr algn="ctr">
              <a:lnSpc>
                <a:spcPct val="95000"/>
              </a:lnSpc>
            </a:pPr>
            <a:r>
              <a:rPr sz="700" b="0" i="0">
                <a:solidFill>
                  <a:srgbClr val="1A1A1A"/>
                </a:solidFill>
                <a:latin typeface="Times New Roman"/>
              </a:rPr>
              <a:t>power ratio per source</a:t>
            </a:r>
          </a:p>
          <a:p>
            <a:pPr algn="ctr">
              <a:lnSpc>
                <a:spcPct val="95000"/>
              </a:lnSpc>
            </a:pPr>
            <a:r>
              <a:rPr sz="700" b="0" i="0">
                <a:solidFill>
                  <a:srgbClr val="1A1A1A"/>
                </a:solidFill>
                <a:latin typeface="Times New Roman"/>
              </a:rPr>
              <a:t>offset 0 (co-channel)</a:t>
            </a:r>
          </a:p>
          <a:p>
            <a:pPr algn="ctr">
              <a:lnSpc>
                <a:spcPct val="95000"/>
              </a:lnSpc>
            </a:pPr>
            <a:r>
              <a:rPr sz="700" b="0" i="0">
                <a:solidFill>
                  <a:srgbClr val="1A1A1A"/>
                </a:solidFill>
                <a:latin typeface="Times New Roman"/>
              </a:rPr>
              <a:t>or k x 2 MHz (adjacent)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005072" y="1115568"/>
            <a:ext cx="155448" cy="0"/>
          </a:xfrm>
          <a:prstGeom prst="line">
            <a:avLst/>
          </a:prstGeom>
          <a:ln w="952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4160520" y="1682496"/>
            <a:ext cx="1115568" cy="329184"/>
          </a:xfrm>
          <a:prstGeom prst="roundRect">
            <a:avLst>
              <a:gd name="adj" fmla="val 8000"/>
            </a:avLst>
          </a:prstGeom>
          <a:solidFill>
            <a:srgbClr val="EEEEEE"/>
          </a:solidFill>
          <a:ln w="9525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>
              <a:lnSpc>
                <a:spcPct val="95000"/>
              </a:lnSpc>
            </a:pPr>
            <a:r>
              <a:rPr sz="700" b="1" i="0">
                <a:solidFill>
                  <a:srgbClr val="1A1A1A"/>
                </a:solidFill>
                <a:latin typeface="Times New Roman"/>
              </a:rPr>
              <a:t>+ AWGN, sample SNR</a:t>
            </a:r>
          </a:p>
          <a:p>
            <a:pPr algn="ctr">
              <a:lnSpc>
                <a:spcPct val="95000"/>
              </a:lnSpc>
            </a:pPr>
            <a:r>
              <a:rPr sz="700" b="0" i="0">
                <a:solidFill>
                  <a:srgbClr val="555555"/>
                </a:solidFill>
                <a:latin typeface="Times New Roman"/>
              </a:rPr>
              <a:t>against mixture power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718304" y="1572768"/>
            <a:ext cx="0" cy="109728"/>
          </a:xfrm>
          <a:prstGeom prst="line">
            <a:avLst/>
          </a:prstGeom>
          <a:ln w="952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5577840" y="548640"/>
            <a:ext cx="914400" cy="402336"/>
          </a:xfrm>
          <a:prstGeom prst="roundRect">
            <a:avLst>
              <a:gd name="adj" fmla="val 8000"/>
            </a:avLst>
          </a:prstGeom>
          <a:solidFill>
            <a:srgbClr val="DCE9FB"/>
          </a:solidFill>
          <a:ln w="15875">
            <a:solidFill>
              <a:srgbClr val="2F6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>
              <a:lnSpc>
                <a:spcPct val="95000"/>
              </a:lnSpc>
            </a:pPr>
            <a:r>
              <a:rPr sz="700" b="1" i="0">
                <a:solidFill>
                  <a:srgbClr val="1A1A1A"/>
                </a:solidFill>
                <a:latin typeface="Times New Roman"/>
              </a:rPr>
              <a:t>Mixture</a:t>
            </a:r>
          </a:p>
          <a:p>
            <a:pPr algn="ctr">
              <a:lnSpc>
                <a:spcPct val="95000"/>
              </a:lnSpc>
            </a:pPr>
            <a:r>
              <a:rPr sz="700" b="0" i="0">
                <a:solidFill>
                  <a:srgbClr val="555555"/>
                </a:solidFill>
                <a:latin typeface="Times New Roman"/>
              </a:rPr>
              <a:t>one array per sample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577840" y="1042415"/>
            <a:ext cx="914400" cy="402336"/>
          </a:xfrm>
          <a:prstGeom prst="roundRect">
            <a:avLst>
              <a:gd name="adj" fmla="val 8000"/>
            </a:avLst>
          </a:prstGeom>
          <a:solidFill>
            <a:srgbClr val="E6F3E3"/>
          </a:solidFill>
          <a:ln w="9525">
            <a:solidFill>
              <a:srgbClr val="6EAE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>
              <a:lnSpc>
                <a:spcPct val="95000"/>
              </a:lnSpc>
            </a:pPr>
            <a:r>
              <a:rPr sz="700" b="1" i="0">
                <a:solidFill>
                  <a:srgbClr val="1A1A1A"/>
                </a:solidFill>
                <a:latin typeface="Times New Roman"/>
              </a:rPr>
              <a:t>Per-source references</a:t>
            </a:r>
          </a:p>
          <a:p>
            <a:pPr algn="ctr">
              <a:lnSpc>
                <a:spcPct val="95000"/>
              </a:lnSpc>
            </a:pPr>
            <a:r>
              <a:rPr sz="700" b="0" i="0">
                <a:solidFill>
                  <a:srgbClr val="555555"/>
                </a:solidFill>
                <a:latin typeface="Times New Roman"/>
              </a:rPr>
              <a:t>stored before mixing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577840" y="1536192"/>
            <a:ext cx="914400" cy="402336"/>
          </a:xfrm>
          <a:prstGeom prst="roundRect">
            <a:avLst>
              <a:gd name="adj" fmla="val 8000"/>
            </a:avLst>
          </a:prstGeom>
          <a:solidFill>
            <a:srgbClr val="EEEEEE"/>
          </a:solidFill>
          <a:ln w="9525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>
              <a:lnSpc>
                <a:spcPct val="95000"/>
              </a:lnSpc>
            </a:pPr>
            <a:r>
              <a:rPr sz="700" b="1" i="0">
                <a:solidFill>
                  <a:srgbClr val="1A1A1A"/>
                </a:solidFill>
                <a:latin typeface="Times New Roman"/>
              </a:rPr>
              <a:t>Metadata</a:t>
            </a:r>
          </a:p>
          <a:p>
            <a:pPr algn="ctr">
              <a:lnSpc>
                <a:spcPct val="95000"/>
              </a:lnSpc>
            </a:pPr>
            <a:r>
              <a:rPr sz="700" b="0" i="0">
                <a:solidFill>
                  <a:srgbClr val="555555"/>
                </a:solidFill>
                <a:latin typeface="Times New Roman"/>
              </a:rPr>
              <a:t>JSON per sample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276088" y="1847088"/>
            <a:ext cx="109728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5385816" y="749808"/>
            <a:ext cx="0" cy="109728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85816" y="749808"/>
            <a:ext cx="192024" cy="0"/>
          </a:xfrm>
          <a:prstGeom prst="line">
            <a:avLst/>
          </a:prstGeom>
          <a:ln w="952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319272" y="1572768"/>
            <a:ext cx="0" cy="530352"/>
          </a:xfrm>
          <a:prstGeom prst="line">
            <a:avLst/>
          </a:prstGeom>
          <a:ln w="12700">
            <a:solidFill>
              <a:srgbClr val="2E8B3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319272" y="2103120"/>
            <a:ext cx="2167128" cy="0"/>
          </a:xfrm>
          <a:prstGeom prst="line">
            <a:avLst/>
          </a:prstGeom>
          <a:ln w="12700">
            <a:solidFill>
              <a:srgbClr val="2E8B3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5486400" y="1243584"/>
            <a:ext cx="0" cy="859536"/>
          </a:xfrm>
          <a:prstGeom prst="line">
            <a:avLst/>
          </a:prstGeom>
          <a:ln w="12700">
            <a:solidFill>
              <a:srgbClr val="2E8B3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486400" y="1243584"/>
            <a:ext cx="91440" cy="0"/>
          </a:xfrm>
          <a:prstGeom prst="line">
            <a:avLst/>
          </a:prstGeom>
          <a:ln w="12700">
            <a:solidFill>
              <a:srgbClr val="2E8B3E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486400" y="1737360"/>
            <a:ext cx="91440" cy="0"/>
          </a:xfrm>
          <a:prstGeom prst="line">
            <a:avLst/>
          </a:prstGeom>
          <a:ln w="12700">
            <a:solidFill>
              <a:srgbClr val="2E8B3E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3794760" y="2112264"/>
            <a:ext cx="1554480" cy="146304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>
              <a:lnSpc>
                <a:spcPct val="95000"/>
              </a:lnSpc>
            </a:pPr>
            <a:r>
              <a:rPr sz="700" b="0" i="1">
                <a:solidFill>
                  <a:srgbClr val="555555"/>
                </a:solidFill>
                <a:latin typeface="Times New Roman"/>
              </a:rPr>
              <a:t>taps leave the chain before the mixer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